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6e26610-be44-9a53-0b65-7c385c7d31be}">
          <p14:sldIdLst>
            <p14:sldId id="256"/>
          </p14:sldIdLst>
        </p14:section>
        <p14:section name="Problema" id="{eac74ded-07fc-9268-45c8-26a26e608971}">
          <p14:sldIdLst>
            <p14:sldId id="257"/>
          </p14:sldIdLst>
        </p14:section>
        <p14:section name="Solução" id="{0973cc8a-d5bd-0a2a-3fcd-572c3afb3a28}">
          <p14:sldIdLst>
            <p14:sldId id="258"/>
          </p14:sldIdLst>
        </p14:section>
        <p14:section name="Arquitetura" id="{67f13e16-5b3e-919b-8627-a49b3ee769c4}">
          <p14:sldIdLst>
            <p14:sldId id="259"/>
          </p14:sldIdLst>
        </p14:section>
        <p14:section name="Dados" id="{722895d4-fefc-87fb-cfb7-e0c8948892c2}">
          <p14:sldIdLst>
            <p14:sldId id="260"/>
          </p14:sldIdLst>
        </p14:section>
        <p14:section name="Regras" id="{287517e0-21e3-f60e-c95d-c7e0b7488c49}">
          <p14:sldIdLst>
            <p14:sldId id="261"/>
          </p14:sldIdLst>
        </p14:section>
        <p14:section name="Fechamento" id="{8b7b3825-6a89-64fa-7a75-5e512ceafd11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3B4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E3B43"/>
                </a:solidFill>
                <a:latin typeface="+mn-lt"/>
              </a:rPr>
              <a:t>Recursos mais pedidos (* limitado)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Pedidos</c:v>
                </c:pt>
              </c:strCache>
            </c:strRef>
          </c:tx>
          <c:spPr>
            <a:solidFill>
              <a:srgbClr val="1F8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Copa – água e café</c:v>
                  </c:pt>
                  <c:pt idx="1">
                    <c:v>Videoconferência</c:v>
                  </c:pt>
                  <c:pt idx="2">
                    <c:v>Notebook*</c:v>
                  </c:pt>
                  <c:pt idx="3">
                    <c:v>Impressora*</c:v>
                  </c:pt>
                  <c:pt idx="4">
                    <c:v>Netbook*</c:v>
                  </c:pt>
                  <c:pt idx="5">
                    <c:v>Projetor portátil*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153</c:v>
                </c:pt>
                <c:pt idx="1">
                  <c:v>93</c:v>
                </c:pt>
                <c:pt idx="2">
                  <c:v>52</c:v>
                </c:pt>
                <c:pt idx="3">
                  <c:v>49</c:v>
                </c:pt>
                <c:pt idx="4">
                  <c:v>46</c:v>
                </c:pt>
                <c:pt idx="5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a equipe do SISGARES. Hoje a reserva de auditórios, salas e recursos da PR/CE depende de conferência manual: dá choque de horário, falta projetor e o setor que atende fica sabendo tarde. O SISGARES resolve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caso de uso: a unidade do MPF organiza reuniões, audiências e treinamentos, e cada evento precisa de ambiente, recursos e serviços. Hoje ocorre choque de horário, inclusive entre o auditório inteiro e as partes; recurso limitado é pedido além do que existe; e o setor que atende — copa, TI, logística — fica sabendo tarde. Cada perfil precisa de uma visão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dez funcionalidades do caso, as oito essenciais estão no MVP, cada uma ligada aos requisitos RF e às regras RN: cadastro, os três tipos de conflito, alterar e cancelar, e-mail por setor com o que mudou, pedido SNP simulado, a grade de 30 minutos e os cards do atendente. As desejáveis, cadastro do catálogo e configuração, vêm do seed por enquanto.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 React no Amplify; login no Cognito com PKCE, com o papel no grupo e o setor do atendente num atributo. O API Gateway valida o JWT antes de qualquer código rodar. Três Lambdas por domínio gravam numa tabela única do DynamoDB, criptografada com CMK. O stream dispara a Lambda de notificações, que gera e-mail e pedido SNP: a API responde rápido e uma falha na notificação não desfaz a reserva. Tudo em SAM.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os CSVs do kit: 192 reservas, 199 períodos, 477 pedidos de recurso. O seed coloca tudo na tabela única respeitando as próprias regras de conflito e grava um cenário de demo relativo à data do pitch. Água e café e videoconferência lideram, mas o que exige regra são os limitados: notebook, impressora, projetor.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coração do sistema. A margem de 30 minutos: com o auditório até 11h, 11h20 é bloqueado e 11h30 passa. A checagem inclui o pai e os filhos do ambiente. E para dois usuários salvando ao mesmo tempo, lemos a versão de um lock, consultamos com leitura consistente e gravamos numa transação condicional: o segundo recebe 409.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Fechando pelos critérios: requisitos — as oito essenciais de ponta a ponta com 166 testes; arquitetura — serverless, eventos e SAM; inovação — desenvolvido com specs, hooks e steering do Kiro e acessível; segurança — Cognito, menor privilégio, KMS e LGPD; a demo mostra os bloqueios e as notificações; e o caminho para produção é trocar a autorização pelo Verified Permissions e ligar SES e SNP reais.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_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_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SISGARES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Reserva de ambientes e recursos sem conflito — e o setor certo avisado na hora</a:t>
            </a:r>
            <a:endParaRPr lang="en-US" sz="2000" dirty="0"/>
          </a:p>
        </p:txBody>
      </p:sp>
      <p:pic>
        <p:nvPicPr>
          <p:cNvPr id="4" name="icone cap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Hackathon AWS × MPF · Outubro/2026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 problema: reservar um evento no MPF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Reuniões, audiências e treinamentos precisam de ambiente, recursos (notebook, projetor, som) e serviços (água e café) — e de vários setores trabalhando juntos.</a:t>
            </a:r>
            <a:endParaRPr lang="en-US" sz="1500" dirty="0"/>
          </a:p>
        </p:txBody>
      </p:sp>
      <p:sp>
        <p:nvSpPr>
          <p:cNvPr id="4" name="dor 1"/>
          <p:cNvSpPr/>
          <p:nvPr/>
        </p:nvSpPr>
        <p:spPr>
          <a:xfrm>
            <a:off x="457200" y="192024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circulo dor 1"/>
          <p:cNvSpPr/>
          <p:nvPr/>
        </p:nvSpPr>
        <p:spPr>
          <a:xfrm>
            <a:off x="685800" y="21945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e dor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3500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Choque de horário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566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Inclusive Auditório inteiro × suas partes, e sem folga entre eventos</a:t>
            </a:r>
            <a:endParaRPr lang="en-US" sz="1200" dirty="0"/>
          </a:p>
        </p:txBody>
      </p:sp>
      <p:sp>
        <p:nvSpPr>
          <p:cNvPr id="9" name="dor 2"/>
          <p:cNvSpPr/>
          <p:nvPr/>
        </p:nvSpPr>
        <p:spPr>
          <a:xfrm>
            <a:off x="2560320" y="192024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circulo dor 2"/>
          <p:cNvSpPr/>
          <p:nvPr/>
        </p:nvSpPr>
        <p:spPr>
          <a:xfrm>
            <a:off x="2788920" y="21945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cone dor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23500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8892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Falta de recurso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3566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Mais projetores reservados do que a unidade tem</a:t>
            </a:r>
            <a:endParaRPr lang="en-US" sz="1200" dirty="0"/>
          </a:p>
        </p:txBody>
      </p:sp>
      <p:sp>
        <p:nvSpPr>
          <p:cNvPr id="14" name="dor 3"/>
          <p:cNvSpPr/>
          <p:nvPr/>
        </p:nvSpPr>
        <p:spPr>
          <a:xfrm>
            <a:off x="4663440" y="192024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circulo dor 3"/>
          <p:cNvSpPr/>
          <p:nvPr/>
        </p:nvSpPr>
        <p:spPr>
          <a:xfrm>
            <a:off x="4892040" y="21945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cone dor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23500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9204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Setor sabe tarde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3566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Copa, TI e logística precisam de aviso e de pedido no SNP</a:t>
            </a:r>
            <a:endParaRPr lang="en-US" sz="1200" dirty="0"/>
          </a:p>
        </p:txBody>
      </p:sp>
      <p:sp>
        <p:nvSpPr>
          <p:cNvPr id="19" name="dor 4"/>
          <p:cNvSpPr/>
          <p:nvPr/>
        </p:nvSpPr>
        <p:spPr>
          <a:xfrm>
            <a:off x="6766560" y="192024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circulo dor 4"/>
          <p:cNvSpPr/>
          <p:nvPr/>
        </p:nvSpPr>
        <p:spPr>
          <a:xfrm>
            <a:off x="6995160" y="21945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cone dor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23500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9516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Uma visão por perfil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995160" y="3566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Solicitante procura horário livre; o atendente planeja os próximos dias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As 8 funcionalidades essenciais, entregues</a:t>
            </a:r>
            <a:endParaRPr lang="en-US" sz="2800" dirty="0"/>
          </a:p>
        </p:txBody>
      </p:sp>
      <p:sp>
        <p:nvSpPr>
          <p:cNvPr id="3" name="func 1"/>
          <p:cNvSpPr/>
          <p:nvPr/>
        </p:nvSpPr>
        <p:spPr>
          <a:xfrm>
            <a:off x="457200" y="109728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4" name="selo func 1"/>
          <p:cNvSpPr/>
          <p:nvPr/>
        </p:nvSpPr>
        <p:spPr>
          <a:xfrm>
            <a:off x="566928" y="1225296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2252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15214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Cadastro de reserva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RF10 · RN1–4, RN9, RN13</a:t>
            </a:r>
            <a:endParaRPr lang="en-US" sz="1300" dirty="0"/>
          </a:p>
        </p:txBody>
      </p:sp>
      <p:pic>
        <p:nvPicPr>
          <p:cNvPr id="7" name="ok func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12" y="1261872"/>
            <a:ext cx="292608" cy="292608"/>
          </a:xfrm>
          <a:prstGeom prst="rect">
            <a:avLst/>
          </a:prstGeom>
        </p:spPr>
      </p:pic>
      <p:sp>
        <p:nvSpPr>
          <p:cNvPr id="8" name="func 2"/>
          <p:cNvSpPr/>
          <p:nvPr/>
        </p:nvSpPr>
        <p:spPr>
          <a:xfrm>
            <a:off x="457200" y="1847088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9" name="selo func 2"/>
          <p:cNvSpPr/>
          <p:nvPr/>
        </p:nvSpPr>
        <p:spPr>
          <a:xfrm>
            <a:off x="566928" y="1975104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19751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207008" y="190195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Conflito de ambiente, pai/filho e margem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RF02, RF11 · RN5–7</a:t>
            </a:r>
            <a:endParaRPr lang="en-US" sz="1300" dirty="0"/>
          </a:p>
        </p:txBody>
      </p:sp>
      <p:pic>
        <p:nvPicPr>
          <p:cNvPr id="12" name="ok func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2011680"/>
            <a:ext cx="292608" cy="292608"/>
          </a:xfrm>
          <a:prstGeom prst="rect">
            <a:avLst/>
          </a:prstGeom>
        </p:spPr>
      </p:pic>
      <p:sp>
        <p:nvSpPr>
          <p:cNvPr id="13" name="func 3"/>
          <p:cNvSpPr/>
          <p:nvPr/>
        </p:nvSpPr>
        <p:spPr>
          <a:xfrm>
            <a:off x="457200" y="2596896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4" name="selo func 3"/>
          <p:cNvSpPr/>
          <p:nvPr/>
        </p:nvSpPr>
        <p:spPr>
          <a:xfrm>
            <a:off x="566928" y="2724912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66928" y="27249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F3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207008" y="26517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Recurso limitado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RF12 · RN8</a:t>
            </a:r>
            <a:endParaRPr lang="en-US" sz="1300" dirty="0"/>
          </a:p>
        </p:txBody>
      </p:sp>
      <p:pic>
        <p:nvPicPr>
          <p:cNvPr id="17" name="ok func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761488"/>
            <a:ext cx="292608" cy="292608"/>
          </a:xfrm>
          <a:prstGeom prst="rect">
            <a:avLst/>
          </a:prstGeom>
        </p:spPr>
      </p:pic>
      <p:sp>
        <p:nvSpPr>
          <p:cNvPr id="18" name="func 4"/>
          <p:cNvSpPr/>
          <p:nvPr/>
        </p:nvSpPr>
        <p:spPr>
          <a:xfrm>
            <a:off x="457200" y="3346704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9" name="selo func 4"/>
          <p:cNvSpPr/>
          <p:nvPr/>
        </p:nvSpPr>
        <p:spPr>
          <a:xfrm>
            <a:off x="566928" y="347472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66928" y="3474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F4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207008" y="340156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Alterar e cancelar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RF15 · RN12</a:t>
            </a:r>
            <a:endParaRPr lang="en-US" sz="1300" dirty="0"/>
          </a:p>
        </p:txBody>
      </p:sp>
      <p:pic>
        <p:nvPicPr>
          <p:cNvPr id="22" name="ok func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3511296"/>
            <a:ext cx="292608" cy="292608"/>
          </a:xfrm>
          <a:prstGeom prst="rect">
            <a:avLst/>
          </a:prstGeom>
        </p:spPr>
      </p:pic>
      <p:sp>
        <p:nvSpPr>
          <p:cNvPr id="23" name="func 5"/>
          <p:cNvSpPr/>
          <p:nvPr/>
        </p:nvSpPr>
        <p:spPr>
          <a:xfrm>
            <a:off x="4663440" y="109728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4" name="selo func 5"/>
          <p:cNvSpPr/>
          <p:nvPr/>
        </p:nvSpPr>
        <p:spPr>
          <a:xfrm>
            <a:off x="4773168" y="1225296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4773168" y="12252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F5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413248" y="115214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E-mail por setor, com alterações destacadas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RF13 · RN10</a:t>
            </a:r>
            <a:endParaRPr lang="en-US" sz="1300" dirty="0"/>
          </a:p>
        </p:txBody>
      </p:sp>
      <p:pic>
        <p:nvPicPr>
          <p:cNvPr id="27" name="ok func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1261872"/>
            <a:ext cx="292608" cy="292608"/>
          </a:xfrm>
          <a:prstGeom prst="rect">
            <a:avLst/>
          </a:prstGeom>
        </p:spPr>
      </p:pic>
      <p:sp>
        <p:nvSpPr>
          <p:cNvPr id="28" name="func 6"/>
          <p:cNvSpPr/>
          <p:nvPr/>
        </p:nvSpPr>
        <p:spPr>
          <a:xfrm>
            <a:off x="4663440" y="1847088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9" name="selo func 6"/>
          <p:cNvSpPr/>
          <p:nvPr/>
        </p:nvSpPr>
        <p:spPr>
          <a:xfrm>
            <a:off x="4773168" y="1975104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4773168" y="19751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F6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5413248" y="190195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Pedido SNP simulado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RF14 · RN11</a:t>
            </a:r>
            <a:endParaRPr lang="en-US" sz="1300" dirty="0"/>
          </a:p>
        </p:txBody>
      </p:sp>
      <p:pic>
        <p:nvPicPr>
          <p:cNvPr id="32" name="ok func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2011680"/>
            <a:ext cx="292608" cy="292608"/>
          </a:xfrm>
          <a:prstGeom prst="rect">
            <a:avLst/>
          </a:prstGeom>
        </p:spPr>
      </p:pic>
      <p:sp>
        <p:nvSpPr>
          <p:cNvPr id="33" name="func 7"/>
          <p:cNvSpPr/>
          <p:nvPr/>
        </p:nvSpPr>
        <p:spPr>
          <a:xfrm>
            <a:off x="4663440" y="2596896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34" name="selo func 7"/>
          <p:cNvSpPr/>
          <p:nvPr/>
        </p:nvSpPr>
        <p:spPr>
          <a:xfrm>
            <a:off x="4773168" y="2724912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4773168" y="27249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F7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5413248" y="26517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Grade de 30 min clicável (solicitante)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RF16</a:t>
            </a:r>
            <a:endParaRPr lang="en-US" sz="1300" dirty="0"/>
          </a:p>
        </p:txBody>
      </p:sp>
      <p:pic>
        <p:nvPicPr>
          <p:cNvPr id="37" name="ok func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2" y="2761488"/>
            <a:ext cx="292608" cy="292608"/>
          </a:xfrm>
          <a:prstGeom prst="rect">
            <a:avLst/>
          </a:prstGeom>
        </p:spPr>
      </p:pic>
      <p:sp>
        <p:nvSpPr>
          <p:cNvPr id="38" name="func 8"/>
          <p:cNvSpPr/>
          <p:nvPr/>
        </p:nvSpPr>
        <p:spPr>
          <a:xfrm>
            <a:off x="4663440" y="3346704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39" name="selo func 8"/>
          <p:cNvSpPr/>
          <p:nvPr/>
        </p:nvSpPr>
        <p:spPr>
          <a:xfrm>
            <a:off x="4773168" y="347472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4773168" y="3474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F8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5413248" y="340156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Cards por data (atendente/admin)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RF17</a:t>
            </a:r>
            <a:endParaRPr lang="en-US" sz="1300" dirty="0"/>
          </a:p>
        </p:txBody>
      </p:sp>
      <p:pic>
        <p:nvPicPr>
          <p:cNvPr id="42" name="ok func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752" y="3511296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Desejáveis F9 (CRUD do catálogo) e F10 (configuração):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hoje vêm do seed — próximo passo. Entregáveis: modelo de dados, testes RN1–RN13, interface responsiva e acessível, LGPD.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100% serverless e orientada a eventos</a:t>
            </a:r>
            <a:endParaRPr lang="en-US" sz="2800" dirty="0"/>
          </a:p>
        </p:txBody>
      </p:sp>
      <p:pic>
        <p:nvPicPr>
          <p:cNvPr id="3" name="diagrama arquitetura" descr="Arquitetura AWS do SISGARES: usuários abrem o site no Amplify, fazem login no Cognito e usam o API Gateway com JWT; a Lambda de regras lê e grava no DynamoDB criptografado pelo KMS; o Stream dispara a Lambda de notificações, que grava os avisos; logs no CloudWatch; SAM cria a infraestrutur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Os dados do kit, carregados de verdade</a:t>
            </a:r>
            <a:endParaRPr lang="en-US" sz="2800" dirty="0"/>
          </a:p>
        </p:txBody>
      </p:sp>
      <p:sp>
        <p:nvSpPr>
          <p:cNvPr id="3" name="stat 1"/>
          <p:cNvSpPr/>
          <p:nvPr/>
        </p:nvSpPr>
        <p:spPr>
          <a:xfrm>
            <a:off x="457200" y="1188720"/>
            <a:ext cx="16916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618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192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105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reservas históricas</a:t>
            </a:r>
            <a:endParaRPr lang="en-US" sz="1100" dirty="0"/>
          </a:p>
        </p:txBody>
      </p:sp>
      <p:sp>
        <p:nvSpPr>
          <p:cNvPr id="6" name="stat 2"/>
          <p:cNvSpPr/>
          <p:nvPr/>
        </p:nvSpPr>
        <p:spPr>
          <a:xfrm>
            <a:off x="2331720" y="1188720"/>
            <a:ext cx="16916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68880" y="12618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477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18105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pedidos de recurso</a:t>
            </a:r>
            <a:endParaRPr lang="en-US" sz="1100" dirty="0"/>
          </a:p>
        </p:txBody>
      </p:sp>
      <p:sp>
        <p:nvSpPr>
          <p:cNvPr id="9" name="stat 3"/>
          <p:cNvSpPr/>
          <p:nvPr/>
        </p:nvSpPr>
        <p:spPr>
          <a:xfrm>
            <a:off x="457200" y="2423160"/>
            <a:ext cx="16916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4963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12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044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ambientes, 1 com 2 partes</a:t>
            </a:r>
            <a:endParaRPr lang="en-US" sz="1100" dirty="0"/>
          </a:p>
        </p:txBody>
      </p:sp>
      <p:sp>
        <p:nvSpPr>
          <p:cNvPr id="12" name="stat 4"/>
          <p:cNvSpPr/>
          <p:nvPr/>
        </p:nvSpPr>
        <p:spPr>
          <a:xfrm>
            <a:off x="2331720" y="2423160"/>
            <a:ext cx="16916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468880" y="24963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20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044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recursos, 11 limitados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49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Seed: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CSVs → tabela única, respeitando RN5–RN9, + cenário de demo relativo à data do pitch</a:t>
            </a:r>
            <a:endParaRPr lang="en-US" sz="1200" dirty="0"/>
          </a:p>
        </p:txBody>
      </p:sp>
      <p:graphicFrame>
        <p:nvGraphicFramePr>
          <p:cNvPr id="16" name="grafico recursos" descr=""/>
          <p:cNvGraphicFramePr/>
          <p:nvPr/>
        </p:nvGraphicFramePr>
        <p:xfrm>
          <a:off x="4297680" y="1097280"/>
          <a:ext cx="43891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Zero reserva duplicada, mesmo em corrida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Auditório (Completo) — margem de 30 min</a:t>
            </a:r>
            <a:endParaRPr lang="en-US" sz="1300" dirty="0"/>
          </a:p>
        </p:txBody>
      </p:sp>
      <p:sp>
        <p:nvSpPr>
          <p:cNvPr id="4" name="trilho 1"/>
          <p:cNvSpPr/>
          <p:nvPr/>
        </p:nvSpPr>
        <p:spPr>
          <a:xfrm>
            <a:off x="457200" y="1645920"/>
            <a:ext cx="393192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bloco 1"/>
          <p:cNvSpPr/>
          <p:nvPr/>
        </p:nvSpPr>
        <p:spPr>
          <a:xfrm>
            <a:off x="1243584" y="1691640"/>
            <a:ext cx="1572768" cy="32004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43584" y="16916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09:00–11:00</a:t>
            </a:r>
            <a:endParaRPr lang="en-US" sz="1100" dirty="0"/>
          </a:p>
        </p:txBody>
      </p:sp>
      <p:sp>
        <p:nvSpPr>
          <p:cNvPr id="7" name="trilho 2"/>
          <p:cNvSpPr/>
          <p:nvPr/>
        </p:nvSpPr>
        <p:spPr>
          <a:xfrm>
            <a:off x="457200" y="2240280"/>
            <a:ext cx="393192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bloco 2"/>
          <p:cNvSpPr/>
          <p:nvPr/>
        </p:nvSpPr>
        <p:spPr>
          <a:xfrm>
            <a:off x="3078480" y="2286000"/>
            <a:ext cx="524256" cy="32004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72640" y="22860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11:20 ✕</a:t>
            </a:r>
            <a:endParaRPr lang="en-US" sz="1100" dirty="0"/>
          </a:p>
        </p:txBody>
      </p:sp>
      <p:sp>
        <p:nvSpPr>
          <p:cNvPr id="10" name="trilho 3"/>
          <p:cNvSpPr/>
          <p:nvPr/>
        </p:nvSpPr>
        <p:spPr>
          <a:xfrm>
            <a:off x="457200" y="2834640"/>
            <a:ext cx="3931920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bloco 3"/>
          <p:cNvSpPr/>
          <p:nvPr/>
        </p:nvSpPr>
        <p:spPr>
          <a:xfrm>
            <a:off x="3209544" y="2880360"/>
            <a:ext cx="393192" cy="32004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03704" y="28803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11:30 ✓</a:t>
            </a:r>
            <a:endParaRPr lang="en-US" sz="1100" dirty="0"/>
          </a:p>
        </p:txBody>
      </p:sp>
      <p:sp>
        <p:nvSpPr>
          <p:cNvPr id="13" name="margem"/>
          <p:cNvSpPr/>
          <p:nvPr/>
        </p:nvSpPr>
        <p:spPr>
          <a:xfrm>
            <a:off x="2816352" y="1691640"/>
            <a:ext cx="393192" cy="320040"/>
          </a:xfrm>
          <a:prstGeom prst="rect">
            <a:avLst/>
          </a:prstGeom>
          <a:solidFill>
            <a:schemeClr val="accent1">
              <a:alpha val="65000"/>
            </a:scheme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82696" y="1691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+30 min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" y="3291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08h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3291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09h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801368" y="3291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10h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587752" y="3291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11h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374136" y="3291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12h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3291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13h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703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Também valem: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pai × filho (Auditório × Parte A) e soma de recurso limitado (RN8)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Gravação atômica (RN7)</a:t>
            </a:r>
            <a:endParaRPr lang="en-US" sz="1300" dirty="0"/>
          </a:p>
        </p:txBody>
      </p:sp>
      <p:sp>
        <p:nvSpPr>
          <p:cNvPr id="23" name="passo 1"/>
          <p:cNvSpPr/>
          <p:nvPr/>
        </p:nvSpPr>
        <p:spPr>
          <a:xfrm>
            <a:off x="4846320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46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Ambiente + ancestrais + descendentes</a:t>
            </a:r>
            <a:endParaRPr lang="en-US" sz="1400" dirty="0"/>
          </a:p>
        </p:txBody>
      </p:sp>
      <p:sp>
        <p:nvSpPr>
          <p:cNvPr id="26" name="passo 2"/>
          <p:cNvSpPr/>
          <p:nvPr/>
        </p:nvSpPr>
        <p:spPr>
          <a:xfrm>
            <a:off x="4846320" y="235915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4632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23134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Lê a versão dos locks (pai e filhos dividem o lock)</a:t>
            </a:r>
            <a:endParaRPr lang="en-US" sz="1400" dirty="0"/>
          </a:p>
        </p:txBody>
      </p:sp>
      <p:sp>
        <p:nvSpPr>
          <p:cNvPr id="29" name="passo 3"/>
          <p:cNvSpPr/>
          <p:nvPr/>
        </p:nvSpPr>
        <p:spPr>
          <a:xfrm>
            <a:off x="4846320" y="307238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4632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30266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Query consistente nas partições de ocupação</a:t>
            </a:r>
            <a:endParaRPr lang="en-US" sz="1400" dirty="0"/>
          </a:p>
        </p:txBody>
      </p:sp>
      <p:sp>
        <p:nvSpPr>
          <p:cNvPr id="32" name="passo 4"/>
          <p:cNvSpPr/>
          <p:nvPr/>
        </p:nvSpPr>
        <p:spPr>
          <a:xfrm>
            <a:off x="4846320" y="37856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4632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7398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TransactWriteItems condicional → 409 se alguém gravou antes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Como respondemos aos 6 critérios</a:t>
            </a:r>
            <a:endParaRPr lang="en-US" sz="2800" dirty="0"/>
          </a:p>
        </p:txBody>
      </p:sp>
      <p:sp>
        <p:nvSpPr>
          <p:cNvPr id="3" name="criterio 1"/>
          <p:cNvSpPr/>
          <p:nvPr/>
        </p:nvSpPr>
        <p:spPr>
          <a:xfrm>
            <a:off x="457200" y="10972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4" name="circulo criterio 1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e criteri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898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80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Requisitos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F1–F8 de ponta a ponta, dados do kit no seed, 166 testes cobrindo RN1–RN13</a:t>
            </a:r>
            <a:endParaRPr lang="en-US" sz="1200" dirty="0"/>
          </a:p>
        </p:txBody>
      </p:sp>
      <p:sp>
        <p:nvSpPr>
          <p:cNvPr id="8" name="criterio 2"/>
          <p:cNvSpPr/>
          <p:nvPr/>
        </p:nvSpPr>
        <p:spPr>
          <a:xfrm>
            <a:off x="3246120" y="10972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9" name="circulo criterio 2"/>
          <p:cNvSpPr/>
          <p:nvPr/>
        </p:nvSpPr>
        <p:spPr>
          <a:xfrm>
            <a:off x="342900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e criteri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3898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280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Arquitetura AWS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84708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Serverless, eventos via DynamoDB Streams, IaC em SAM, Lambdas por domínio</a:t>
            </a:r>
            <a:endParaRPr lang="en-US" sz="1200" dirty="0"/>
          </a:p>
        </p:txBody>
      </p:sp>
      <p:sp>
        <p:nvSpPr>
          <p:cNvPr id="13" name="criterio 3"/>
          <p:cNvSpPr/>
          <p:nvPr/>
        </p:nvSpPr>
        <p:spPr>
          <a:xfrm>
            <a:off x="6035040" y="10972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4" name="circulo criterio 3"/>
          <p:cNvSpPr/>
          <p:nvPr/>
        </p:nvSpPr>
        <p:spPr>
          <a:xfrm>
            <a:off x="621792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e criteri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3898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1280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Inovação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84708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Specs, hooks e steering do Kiro; aviso de conflito ao vivo; acessível (NBR 17225)</a:t>
            </a:r>
            <a:endParaRPr lang="en-US" sz="1200" dirty="0"/>
          </a:p>
        </p:txBody>
      </p:sp>
      <p:sp>
        <p:nvSpPr>
          <p:cNvPr id="18" name="criterio 4"/>
          <p:cNvSpPr/>
          <p:nvPr/>
        </p:nvSpPr>
        <p:spPr>
          <a:xfrm>
            <a:off x="457200" y="28803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9" name="circulo criterio 4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e criterio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17296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Segurança e LGPD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301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Cognito + JWT, uma role por Lambda, KMS, logs sem PII, solicitante mascarado</a:t>
            </a:r>
            <a:endParaRPr lang="en-US" sz="1200" dirty="0"/>
          </a:p>
        </p:txBody>
      </p:sp>
      <p:sp>
        <p:nvSpPr>
          <p:cNvPr id="23" name="criterio 5"/>
          <p:cNvSpPr/>
          <p:nvPr/>
        </p:nvSpPr>
        <p:spPr>
          <a:xfrm>
            <a:off x="3246120" y="28803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4" name="circulo criterio 5"/>
          <p:cNvSpPr/>
          <p:nvPr/>
        </p:nvSpPr>
        <p:spPr>
          <a:xfrm>
            <a:off x="342900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e criterio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317296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Demo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6301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Grade → bloqueios RN5, RN6, RN8 → alteração → e-mail e SNP → painel → cancelar</a:t>
            </a:r>
            <a:endParaRPr lang="en-US" sz="1200" dirty="0"/>
          </a:p>
        </p:txBody>
      </p:sp>
      <p:sp>
        <p:nvSpPr>
          <p:cNvPr id="28" name="criterio 6"/>
          <p:cNvSpPr/>
          <p:nvPr/>
        </p:nvSpPr>
        <p:spPr>
          <a:xfrm>
            <a:off x="6035040" y="28803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9" name="circulo criterio 6"/>
          <p:cNvSpPr/>
          <p:nvPr/>
        </p:nvSpPr>
        <p:spPr>
          <a:xfrm>
            <a:off x="621792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e criterio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17296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1228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Viabilidade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6301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Paga só pelo uso; próximos: Verified Permissions, SES, SNP real, multiunidade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GARES">
  <a:themeElements>
    <a:clrScheme name="SISGARES">
      <a:dk1>
        <a:srgbClr val="1B2428"/>
      </a:dk1>
      <a:lt1>
        <a:srgbClr val="FFFFFF"/>
      </a:lt1>
      <a:dk2>
        <a:srgbClr val="0E3B43"/>
      </a:dk2>
      <a:lt2>
        <a:srgbClr val="EEF3F4"/>
      </a:lt2>
      <a:accent1>
        <a:srgbClr val="F2A93B"/>
      </a:accent1>
      <a:accent2>
        <a:srgbClr val="1F8A8A"/>
      </a:accent2>
      <a:accent3>
        <a:srgbClr val="D64545"/>
      </a:accent3>
      <a:accent4>
        <a:srgbClr val="2E9E6A"/>
      </a:accent4>
      <a:accent5>
        <a:srgbClr val="6B7C80"/>
      </a:accent5>
      <a:accent6>
        <a:srgbClr val="B7D3D6"/>
      </a:accent6>
      <a:hlink>
        <a:srgbClr val="1F8A8A"/>
      </a:hlink>
      <a:folHlink>
        <a:srgbClr val="0E3B43"/>
      </a:folHlink>
    </a:clrScheme>
    <a:fontScheme name="SISGAR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SISGARES — pitch</dc:title>
  <dc:subject>PptxGenJS Presentation</dc:subject>
  <dc:creator>PptxGenJS</dc:creator>
  <cp:lastModifiedBy>PptxGenJS</cp:lastModifiedBy>
  <cp:revision>1</cp:revision>
  <dcterms:created xsi:type="dcterms:W3CDTF">2026-10-07T18:05:24Z</dcterms:created>
  <dcterms:modified xsi:type="dcterms:W3CDTF">2026-10-07T18:05:24Z</dcterms:modified>
</cp:coreProperties>
</file>